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91970"/>
            </a:gs>
            <a:gs pos="100000">
              <a:srgbClr val="4169E1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D700"/>
                </a:solidFill>
              </a:defRPr>
            </a:pPr>
            <a:r>
              <a:t>Le Travail et La Sagesse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>
              <a:defRPr sz="3600" i="1">
                <a:solidFill>
                  <a:srgbClr val="FFFFFF"/>
                </a:solidFill>
              </a:defRPr>
            </a:pPr>
            <a:r>
              <a:t>"Il faut cultiver notre jardin"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0292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- Voltaire, Candide (1759)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F4F4F"/>
            </a:gs>
            <a:gs pos="100000">
              <a:srgbClr val="4682B4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D700"/>
                </a:solidFill>
              </a:defRPr>
            </a:pPr>
            <a:r>
              <a:t>Contexte Historique et Philosophique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7315200" cy="4114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spcAft>
                <a:spcPts val="1500"/>
              </a:spcAft>
              <a:defRPr sz="2400">
                <a:solidFill>
                  <a:srgbClr val="191970"/>
                </a:solidFill>
              </a:defRPr>
            </a:pPr>
            <a:r>
              <a:t>• Voltaire (1694-1778)</a:t>
            </a:r>
          </a:p>
          <a:p>
            <a:pPr>
              <a:spcAft>
                <a:spcPts val="1500"/>
              </a:spcAft>
              <a:defRPr sz="2000">
                <a:solidFill>
                  <a:srgbClr val="2F4F4F"/>
                </a:solidFill>
              </a:defRPr>
            </a:pPr>
            <a:r>
              <a:t>• Philosophe des Lumières, critique de l'optimisme naïf</a:t>
            </a:r>
          </a:p>
          <a:p>
            <a:pPr>
              <a:spcAft>
                <a:spcPts val="1500"/>
              </a:spcAft>
              <a:defRPr sz="2000">
                <a:solidFill>
                  <a:srgbClr val="2F4F4F"/>
                </a:solidFill>
              </a:defRPr>
            </a:pPr>
            <a:r>
              <a:t>• Candide (1759) : conte philosophique satirique</a:t>
            </a:r>
          </a:p>
          <a:p>
            <a:pPr>
              <a:spcAft>
                <a:spcPts val="1500"/>
              </a:spcAft>
              <a:defRPr sz="2000">
                <a:solidFill>
                  <a:srgbClr val="2F4F4F"/>
                </a:solidFill>
              </a:defRPr>
            </a:pPr>
            <a:r>
              <a:t>• Critique de la philosophie de Leibniz : 'Tout est pour le mieux dans le meilleur des mondes possibles'</a:t>
            </a:r>
          </a:p>
          <a:p>
            <a:pPr>
              <a:defRPr sz="2000" b="1">
                <a:solidFill>
                  <a:srgbClr val="2F4F4F"/>
                </a:solidFill>
              </a:defRPr>
            </a:pPr>
            <a:r>
              <a:t>• Conclusion : face aux malheurs du monde, il faut agir concrètement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28B22"/>
            </a:gs>
            <a:gs pos="100000">
              <a:srgbClr val="90EE90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Le Travail : L'Action Concrète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3657600" cy="4114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28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spcAft>
                <a:spcPts val="1000"/>
              </a:spcAft>
              <a:defRPr sz="2200" b="1">
                <a:solidFill>
                  <a:srgbClr val="228B22"/>
                </a:solidFill>
              </a:defRPr>
            </a:pPr>
            <a:r>
              <a:t>Signification :</a:t>
            </a:r>
          </a:p>
          <a:p>
            <a:pPr>
              <a:spcAft>
                <a:spcPts val="800"/>
              </a:spcAft>
              <a:defRPr sz="1800"/>
            </a:pPr>
            <a:r>
              <a:t>• Remède contre l'ennui</a:t>
            </a:r>
          </a:p>
          <a:p>
            <a:pPr>
              <a:spcAft>
                <a:spcPts val="800"/>
              </a:spcAft>
              <a:defRPr sz="1800"/>
            </a:pPr>
            <a:r>
              <a:t>• Protection contre le vice</a:t>
            </a:r>
          </a:p>
          <a:p>
            <a:pPr>
              <a:spcAft>
                <a:spcPts val="800"/>
              </a:spcAft>
              <a:defRPr sz="1800"/>
            </a:pPr>
            <a:r>
              <a:t>• Source de dignité</a:t>
            </a:r>
          </a:p>
          <a:p>
            <a:pPr>
              <a:spcAft>
                <a:spcPts val="800"/>
              </a:spcAft>
              <a:defRPr sz="1800"/>
            </a:pPr>
            <a:r>
              <a:t>• Moyen de subsistance</a:t>
            </a:r>
          </a:p>
          <a:p>
            <a:pPr>
              <a:defRPr sz="1800"/>
            </a:pPr>
            <a:r>
              <a:t>• Activité productive et créatrice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645920"/>
            <a:ext cx="3657600" cy="4114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28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spcAft>
                <a:spcPts val="1000"/>
              </a:spcAft>
              <a:defRPr sz="2200" b="1">
                <a:solidFill>
                  <a:srgbClr val="228B22"/>
                </a:solidFill>
              </a:defRPr>
            </a:pPr>
            <a:r>
              <a:t>Le travail selon Voltaire :</a:t>
            </a:r>
          </a:p>
          <a:p>
            <a:pPr>
              <a:spcAft>
                <a:spcPts val="1500"/>
              </a:spcAft>
              <a:defRPr sz="1800" i="1"/>
            </a:pPr>
            <a:r>
              <a:t>« Le travail éloigne de nous trois grands maux : l'ennui, le vice et le besoin. »</a:t>
            </a:r>
          </a:p>
          <a:p>
            <a:pPr>
              <a:defRPr sz="1800" b="1"/>
            </a:pPr>
            <a:r>
              <a:t>Le travail n'est pas une punition, mais une libération.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4B0082"/>
            </a:gs>
            <a:gs pos="100000">
              <a:srgbClr val="8A2BE2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D700"/>
                </a:solidFill>
              </a:defRPr>
            </a:pPr>
            <a:r>
              <a:t>La Sagesse : L'Acceptation Lucide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7315200" cy="4114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spcAft>
                <a:spcPts val="1500"/>
              </a:spcAft>
              <a:defRPr sz="2600" b="1">
                <a:solidFill>
                  <a:srgbClr val="4B0082"/>
                </a:solidFill>
              </a:defRPr>
            </a:pPr>
            <a:r>
              <a:t>La sagesse voltairienne :</a:t>
            </a:r>
          </a:p>
          <a:p>
            <a:pPr>
              <a:spcAft>
                <a:spcPts val="1000"/>
              </a:spcAft>
              <a:defRPr sz="2000"/>
            </a:pPr>
            <a:r>
              <a:t>• Renoncer aux spéculations métaphysiques stériles</a:t>
            </a:r>
          </a:p>
          <a:p>
            <a:pPr>
              <a:spcAft>
                <a:spcPts val="1000"/>
              </a:spcAft>
              <a:defRPr sz="2000"/>
            </a:pPr>
            <a:r>
              <a:t>• Accepter les limites de la condition humaine</a:t>
            </a:r>
          </a:p>
          <a:p>
            <a:pPr>
              <a:spcAft>
                <a:spcPts val="1000"/>
              </a:spcAft>
              <a:defRPr sz="2000"/>
            </a:pPr>
            <a:r>
              <a:t>• Privilégier l'action pratique à la contemplation passive</a:t>
            </a:r>
          </a:p>
          <a:p>
            <a:pPr>
              <a:spcAft>
                <a:spcPts val="1000"/>
              </a:spcAft>
              <a:defRPr sz="2000"/>
            </a:pPr>
            <a:r>
              <a:t>• Trouver le bonheur dans la simplicité et le concret</a:t>
            </a:r>
          </a:p>
          <a:p>
            <a:pPr>
              <a:spcAft>
                <a:spcPts val="1500"/>
              </a:spcAft>
              <a:defRPr sz="2000"/>
            </a:pPr>
            <a:r>
              <a:t>• Comprendre que nous ne pouvons pas tout contrôler</a:t>
            </a:r>
          </a:p>
          <a:p>
            <a:pPr>
              <a:defRPr sz="2000" b="1" i="1">
                <a:solidFill>
                  <a:srgbClr val="8A2BE2"/>
                </a:solidFill>
              </a:defRPr>
            </a:pPr>
            <a:r>
              <a:t>La sagesse n'est pas dans la connaissance absolue, mais dans l'action mesurée.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556B2F"/>
            </a:gs>
            <a:gs pos="100000">
              <a:srgbClr val="BDB76B"/>
            </a:gs>
          </a:gsLst>
          <a:lin scaled="0" ang="108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Cultiver Notre Jardin : La Métaphore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7315200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556B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spcAft>
                <a:spcPts val="1000"/>
              </a:spcAft>
              <a:defRPr sz="2400" b="1">
                <a:solidFill>
                  <a:srgbClr val="556B2F"/>
                </a:solidFill>
              </a:defRPr>
            </a:pPr>
            <a:r>
              <a:t>Le jardin symbolise :</a:t>
            </a:r>
          </a:p>
          <a:p>
            <a:pPr>
              <a:defRPr sz="1800">
                <a:solidFill>
                  <a:srgbClr val="2F4F4F"/>
                </a:solidFill>
              </a:defRPr>
            </a:pPr>
            <a:r>
              <a:t>Notre sphère d'influence personnelle - ce que nous pouvons réellement contrôler et améliorer dans notre vie quotidienne.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657600"/>
            <a:ext cx="7315200" cy="2103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556B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spcAft>
                <a:spcPts val="1000"/>
              </a:spcAft>
              <a:defRPr sz="2400" b="1">
                <a:solidFill>
                  <a:srgbClr val="556B2F"/>
                </a:solidFill>
              </a:defRPr>
            </a:pPr>
            <a:r>
              <a:t>Cultiver signifie :</a:t>
            </a:r>
          </a:p>
          <a:p>
            <a:pPr>
              <a:spcAft>
                <a:spcPts val="800"/>
              </a:spcAft>
              <a:defRPr sz="1800"/>
            </a:pPr>
            <a:r>
              <a:t>• Prendre soin de soi et de ses proches</a:t>
            </a:r>
          </a:p>
          <a:p>
            <a:pPr>
              <a:spcAft>
                <a:spcPts val="800"/>
              </a:spcAft>
              <a:defRPr sz="1800"/>
            </a:pPr>
            <a:r>
              <a:t>• Développer ses talents et compétences</a:t>
            </a:r>
          </a:p>
          <a:p>
            <a:pPr>
              <a:spcAft>
                <a:spcPts val="800"/>
              </a:spcAft>
              <a:defRPr sz="1800"/>
            </a:pPr>
            <a:r>
              <a:t>• Construire une vie simple mais authentique</a:t>
            </a:r>
          </a:p>
          <a:p>
            <a:pPr>
              <a:defRPr sz="1800"/>
            </a:pPr>
            <a:r>
              <a:t>• Agir localement plutôt que de se perdre dans l'abstraction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B22222"/>
            </a:gs>
            <a:gs pos="100000">
              <a:srgbClr val="FF6347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Applications Pratiques Aujourd'hui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3931920" cy="4114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B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spcAft>
                <a:spcPts val="1000"/>
              </a:spcAft>
              <a:defRPr sz="2200" b="1">
                <a:solidFill>
                  <a:srgbClr val="B22222"/>
                </a:solidFill>
              </a:defRPr>
            </a:pPr>
            <a:r>
              <a:t>Dans la vie moderne :</a:t>
            </a:r>
          </a:p>
          <a:p>
            <a:pPr>
              <a:spcAft>
                <a:spcPts val="800"/>
              </a:spcAft>
              <a:defRPr sz="1700"/>
            </a:pPr>
            <a:r>
              <a:t>• Se concentrer sur ce qu'on peut changer</a:t>
            </a:r>
          </a:p>
          <a:p>
            <a:pPr>
              <a:spcAft>
                <a:spcPts val="800"/>
              </a:spcAft>
              <a:defRPr sz="1700"/>
            </a:pPr>
            <a:r>
              <a:t>• Éviter la paralysie par l'analyse</a:t>
            </a:r>
          </a:p>
          <a:p>
            <a:pPr>
              <a:spcAft>
                <a:spcPts val="800"/>
              </a:spcAft>
              <a:defRPr sz="1700"/>
            </a:pPr>
            <a:r>
              <a:t>• Valoriser le travail manuel et intellectuel</a:t>
            </a:r>
          </a:p>
          <a:p>
            <a:pPr>
              <a:spcAft>
                <a:spcPts val="800"/>
              </a:spcAft>
              <a:defRPr sz="1700"/>
            </a:pPr>
            <a:r>
              <a:t>• Trouver un équilibre vie-travail</a:t>
            </a:r>
          </a:p>
          <a:p>
            <a:pPr>
              <a:defRPr sz="1700"/>
            </a:pPr>
            <a:r>
              <a:t>• Cultiver des relations authentiques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1645920"/>
            <a:ext cx="3931920" cy="4114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B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spcAft>
                <a:spcPts val="1000"/>
              </a:spcAft>
              <a:defRPr sz="2200" b="1">
                <a:solidFill>
                  <a:srgbClr val="B22222"/>
                </a:solidFill>
              </a:defRPr>
            </a:pPr>
            <a:r>
              <a:t>Leçons essentielles :</a:t>
            </a:r>
          </a:p>
          <a:p>
            <a:pPr>
              <a:spcAft>
                <a:spcPts val="800"/>
              </a:spcAft>
              <a:defRPr sz="1700"/>
            </a:pPr>
            <a:r>
              <a:t>• L'action vaut mieux que la plainte</a:t>
            </a:r>
          </a:p>
          <a:p>
            <a:pPr>
              <a:spcAft>
                <a:spcPts val="800"/>
              </a:spcAft>
              <a:defRPr sz="1700"/>
            </a:pPr>
            <a:r>
              <a:t>• Le bonheur est dans le faire, pas dans l'avoir</a:t>
            </a:r>
          </a:p>
          <a:p>
            <a:pPr>
              <a:spcAft>
                <a:spcPts val="800"/>
              </a:spcAft>
              <a:defRPr sz="1700"/>
            </a:pPr>
            <a:r>
              <a:t>• La simplicité volontaire comme choix de vie</a:t>
            </a:r>
          </a:p>
          <a:p>
            <a:pPr>
              <a:spcAft>
                <a:spcPts val="800"/>
              </a:spcAft>
              <a:defRPr sz="1700"/>
            </a:pPr>
            <a:r>
              <a:t>• Responsabilité personnelle et engagement</a:t>
            </a:r>
          </a:p>
          <a:p>
            <a:pPr>
              <a:defRPr sz="1700"/>
            </a:pPr>
            <a:r>
              <a:t>• Créer du sens par l'action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91970"/>
            </a:gs>
            <a:gs pos="100000">
              <a:srgbClr val="483D8B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D700"/>
                </a:solidFill>
              </a:defRPr>
            </a:pPr>
            <a:r>
              <a:t>Conclusion : Une Philosophie de Vie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828800"/>
            <a:ext cx="6400800" cy="182880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spcAft>
                <a:spcPts val="1500"/>
              </a:spcAft>
              <a:defRPr sz="3600" b="1" i="1">
                <a:solidFill>
                  <a:srgbClr val="191970"/>
                </a:solidFill>
              </a:defRPr>
            </a:pPr>
            <a:r>
              <a:t>"Il faut cultiver notre jardin"</a:t>
            </a:r>
          </a:p>
          <a:p>
            <a:pPr algn="ctr">
              <a:defRPr sz="2000">
                <a:solidFill>
                  <a:srgbClr val="483D8B"/>
                </a:solidFill>
              </a:defRPr>
            </a:pPr>
            <a:r>
              <a:t>Ce n'est pas une invitation au repli, mais un appel à l'action responsable et concrète.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114800"/>
            <a:ext cx="7315200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D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spcAft>
                <a:spcPts val="1000"/>
              </a:spcAft>
              <a:defRPr sz="2800" b="1">
                <a:solidFill>
                  <a:srgbClr val="B22222"/>
                </a:solidFill>
              </a:defRPr>
            </a:pPr>
            <a:r>
              <a:t>Travail + Sagesse = Vie accomplie</a:t>
            </a:r>
          </a:p>
          <a:p>
            <a:pPr algn="ctr">
              <a:defRPr sz="1800">
                <a:solidFill>
                  <a:srgbClr val="2F4F4F"/>
                </a:solidFill>
              </a:defRPr>
            </a:pPr>
            <a:r>
              <a:t>Agir dans notre sphère d'influence • Accepter nos limites • Trouver le bonheur dans l'action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